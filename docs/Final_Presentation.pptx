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RWANDA ROAD SAFETY INTELLIGENCE SYSTEM (RRSIS)</a:t>
            </a:r>
          </a:p>
          <a:p>
            <a:pPr>
              <a:spcAft>
                <a:spcPts val="2400"/>
              </a:spcAft>
              <a:defRPr sz="1800">
                <a:solidFill>
                  <a:srgbClr val="D4A017"/>
                </a:solidFill>
              </a:defRPr>
            </a:pPr>
            <a:r>
              <a:t>HDFS + Apache Spark (PySpark DataFrame API) Analytics Engine &amp; Management Priorities</a:t>
            </a:r>
          </a:p>
          <a:p>
            <a:pPr>
              <a:defRPr sz="1300">
                <a:solidFill>
                  <a:srgbClr val="C8DCF0"/>
                </a:solidFill>
              </a:defRPr>
            </a:pPr>
            <a:r>
              <a:t>Team Members: Amie Marie Flora Dushimumukiza (101405) | Kwizera Rene (101379) | Grace Teta (101378)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Case Study Context &amp; Dataset Transparency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Rwanda NISR Official Benchmark (2024)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Source: NISR Statistical Yearbook 2024, Table 14.2.6 (Road Accidents).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2023 National Total: 9,995 total road accidents recorded in Rwanda.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2023 Fatal Collisions: 761 fatal accidents (averaging &gt;2.08 deaths/day).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6-Year Trend (2018-2023): Total crashes surged by +137.8% from 2020 (4,203) to 2023 (9,995).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Motivation: Urgent need for data-driven analytics engine (RRSIS) to replace manual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Enterprise Surrogate Dataset Disclosure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Surrogate Dataset: Kaggle UK Road Accident Dataset (307,973 raw crash records, 23 attributes).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Mandate Compliance: Used as an enterprise surrogate to design and validate PySpark distributed pipelines.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Transparency: We do NOT claim Kaggle records represent actual Rwanda events.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Rwanda Policy Integration: RRSIS algorithms are designed to ingest actual Rwanda National Police (RNP) micro-data upon release.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System Goal: Determine WHERE, WHEN, and UNDER WHAT CIRCUMSTANCES crash risk is highest.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1: HDFS Storage &amp; PySpark Data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HDFS Ingestion &amp; Schema Diagnostics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HDFS Path: hdfs://localhost:9000/user/hadoop/rrsis/raw/road_accidents_23cols.csv.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Storage Topology: Decoupled HDFS 3x block replication with 128 MB split sizes.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Total Ingested Volume: 307,973 accident records across 23 attributes.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Header Standardization: Trimmed spaces and stripped parentheses across columns.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Schema Breakdown: Double precision coordinates (Lat/Long), integer limits, timestamp markers, categorical severities.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RDD Partition Tracking &amp; Locality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Total Spark RDD Partitions: 8 partitions.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Partition Diagnostics: F.spark_partition_id() audited record allocation across executors.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Load Balance: Partitions 0-6 hold ~40,500 records each; Partition 7 holds 22,870 records.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Data Locality: NODE_LOCAL execution confirmed—executors process HDFS blocks from local node storage.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Memory Allocator: PySpark SparkSession configured with 4 GB driver memory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2: Data Quality Audit BEFORE Cleaning &amp; Sanitization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Empirical Data Quality Audit BEFORE Cleaning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Missing Values Audit (BEFORE Cleaning):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Carriageway_Hazards: 302,549 nulls (98.24% missing).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Weather_Conditions: 6,057 nulls (1.97% missing).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Road_Type: 1,534 nulls (0.50% missing).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Road_Surface_Conditions: 317 nulls (0.10% missing).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Time: 17 nulls (0.01% missing).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Duplicate Records: 1 exact duplicate row detected.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Typo Anomalies: 'Fetal' entries detected under Accident_Severity.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PySpark Sanitization &amp; Imputation Rationale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Transformation Pipeline Executed: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F.initcap(F.trim()) standardized text casing and removed whitespace.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Fixed typo 'Fetal' -&gt; 'Fatal' via F.when().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Executed dropDuplicates() to eliminate duplicate row structs.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4. Imputed missing categoricals with 'Unknown' instead of dropna().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5. Nullified zero coordinates and negative speed limits.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Analytical Rationale: Naive dropna() would purge &gt;7,900 crashes (including 112 fatal crashes), creating severe urban bias.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3: Temporal Accident Intelligence &amp;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Chronological Breakdown (Hour, Day, Month)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Day of Week Concentration: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Friday Peak: 50,529 crashes (16.41% of national total).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Midweek: Tuesday (15.06%), Wednesday (15.06%), Thursday (14.82%).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Weekday vs Weekend: Weekdays generate 75.61% (232,862) vs Weekend 24.39% (75,110).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Monthly Seasonality: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November Peak: 29,095 crashes (9.45%), followed by October (9.21%) and July (8.75%).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5 Operational Time Periods &amp; High-Risk Windows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Custom Time Period Breakdown: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Afternoon (12-16): 105,433 crashes (34.23%) - Volume Peak.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Morning (05-11): 88,369 crashes (28.69%).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Evening (17-20): 75,280 crashes (24.44%).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4. Night (21-23): 23,989 crashes (7.79%, Avg Severity = 1.39).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5. Late Night (00-04): 14,884 crashes (4.83%, Avg Severity = 1.52 HIGHEST!).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Top 5 Risk Window: Late Night exhibits 3.8x higher fatality rate per crash than morning commute.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4: Multi-Dimensional Accident Severity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Severity Score Weighting &amp; Multi-Dimensions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Weighted Formula: Severity Score = ∑ (Number of Crashes × Weight).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Weights Assigned: Slight = 1 | Serious = 3 | Fatal = 5.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Severity by Road Type: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Single Carriageway: 230,611 crashes (74.9%), Severity Score = 307,427 (76.0%).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Dual Carriageway: 45,467 crashes (14.8%), Severity Score = 59,417.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Severity by Time Period: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Late Night: Highest trauma intensity (Avg Severity Weight = 1.52).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Frequency vs. Severity Risk Divergence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Empirical Divergence Proof (Birmingham vs. Westminster):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Birmingham ranks #1 in volume (6,165 crashes) with Severity Score of 7,805 (Avg Weight = 1.27).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Westminster ranks #3 in score (4,341) despite only 2,811 crashes.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Westminster Avg Severity Weight = 1.54 vs Birmingham 1.27.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Management Insight: High crash volume location does NOT equal highest safety risk. Westminster has higher fatal/serious density per crash.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5: Dangerous-Factor Combination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Top Multi-Attribute Risk Tuples (Road, Speed, Weather, Light, Time)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#1: Single Carriageway + 30 mph + Fine Weather + Daylight + Afternoon -&gt; 47,707 crashes, Total Severity = 60,443 (Score 1.27).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#2: Single Carriageway + 30 mph + Fine Weather + Daylight + Morning -&gt; 35,232 crashes, Total Severity = 44,300 (Score 1.26).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#3: Single Carriageway + 30 mph + Fine Weather + Daylight + Evening -&gt; 21,083 crashes, Total Severity = 27,089 (Score 1.28).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#4: Single Carriageway + 60 mph + Fine Weather + Daylight + Afternoon -&gt; 10,007 crashes, Total Severity = 15,657 (High Avg Weight = 1.56).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#5: Single Carriageway + 30 mph + Fine Weather + Darkness Lights + Evening -&gt; 11,512 crashes, Total Severity = 15,136.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Rank #9: Single Carriageway + 60 mph + Fine Weather + Daylight + Evening -&gt; 4,297 crashes, Total Severity = 6,927 (Highest Avg Weight = 1.61!).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Key Takeaway: High-speed (60 mph) single carriageways dramatically escalate per-crash fatality weight.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6: PySpark Window Function Location Rankings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Urban Category Top 3 Hotspots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PySpark Window Spec: Window.partitionBy('Urban_or_Rural_Area').orderBy(F.desc('Severity_Score')).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Top 3 Urban Ranked Locations: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Birmingham: 6,099 crashes | Severity Score = 7,717 | Rank = 1.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Westminster: 2,811 crashes | Severity Score = 4,341 | Rank = 2.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Leeds: 3,329 crashes | Severity Score = 4,231 | Rank = 3.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Window Mechanics: row_number() assigns sequential ranks; rank() and dense_rank() evaluated for tie-breaking.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Rural Category Top 3 Hotspots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Top 3 Rural Ranked Locations: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Cornwall: 1,992 crashes | Severity Score = 2,584 | Rank = 1.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County Durham: 1,421 crashes | Severity Score = 1,903 | Rank = 2.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Wiltshire: 1,158 crashes | Severity Score = 1,816 | Rank = 3.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Rural Risk Profile: Rural hotspots exhibit high proportions of single-carriageway crashes at 60 mph speed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7: Data-Driven Composite Risk Score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Min-Max Normalization &amp; Composite Formula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Dimensions Combined: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Severity Score (Ns, Weight = 40%).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Crash Frequency (Nf, Weight = 35%).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Adverse Condition Share (Na, Weight = 25% - Night/Wet share).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Min-Max Formula: Nx = (X - Xmin) / (Xmax - Xmin).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Composite Score = (0.40 × Ns + 0.35 × Nf + 0.25 × Na) × 100.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Justification: Prioritizes human life saving (40%) while accounting for exposure (35%) and environmental hazards (25%).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Top Ranked High-Risk Interventions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Top 10 High-Risk Locations (0-100 Score):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Birmingham: 88.54 (Critical Priority).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Leeds: 63.40 (High Priority).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Westminster: 54.16 (High Priority).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4. Manchester: 51.84 (High Priority).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5. Bradford: 48.95 (Elevated Priority).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6. Liverpool: 47.00 | 7. Sheffield: 45.22 | 8. Lambeth: 42.52.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9. Cornwall: 42.49 | 10. Bristol: 40.78.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8: Spark Execution, Architecture &amp; 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Catalyst Physical Plan &amp; Shuffle Analysis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df.explain(True) Output Analysis: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Catalyst Phases: Parsed -&gt; Analyzed -&gt; Optimized -&gt; Physical Plan.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Transformations vs Actions: Filter/select/groupBy are lazy; count/show trigger Jobs.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Wide Shuffle Identification: groupBy('Local_Authority_District') and dropDuplicates() trigger Exchange hashpartitioning.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Shuffle Mechanics: Map phase serializes rows to disk; Reduce phase fetches partitions over cluster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Memory Optimization &amp; cache() Benchmarking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Placement of cache(): Applied immediately after Task 2 sanitization.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Branching DAG Workload: Tasks 3, 4, 5, 6, 7, and 9 all branch from df_clean.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Performance Impact: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Without cache(): Spark re-evaluated HDFS read and cleaning 6 separate times.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With cache(): Stored in executor MEMORY_AND_DISK, reducing total workflow runtime from &gt;45s to ~4s (11.2x speedup!).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Task 9: Management Challenge - Top 5 Priorities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Structured Policy Interventions (Data -&gt; Spark -&gt; Evidence -&gt; Recommendation)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Priority 1: High-Speed Single Carriageway Engineering -&gt; Single carriageways cause 74.9% of crashes and 76.0% of severity. Rec: Install median barriers &amp; speed calming on RN1/RN3 corridors.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Priority 2: Nocturnal Police Enforcement Window (17:00-02:00) -&gt; Evening/Night generate 37%+ crashes; Late Night severity weight = 1.52. Rec: Deploy mobile radar &amp; breathalyzer checkpoints.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Priority 3: Target Resources to Top 3 Ranked Hotspots -&gt; Birmingham (88.54), Leeds (63.40), Westminster (54.16) top urban; Cornwall tops rural. Rec: Allocate 60% of safety budgets to these hotspots.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Priority 4: High-Friction Resurfacing &amp; Drainage -&gt; Wet road surfaces present in 15%+ severe crashes. Rec: Mandate high-friction asphalt overlays on steep downhill curves before rainy seasons.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Priority 5: Commercial Vehicle &amp; Bus Speed Governors -&gt; Trucks (&gt;7.5t) &amp; buses cause 15,218+ high-severity crashes (avg weight &gt;1.31). Rec: Enforce mandatory GPS speed governor audits &amp; rest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6EA5"/>
                </a:solidFill>
              </a:defRPr>
            </a:pPr>
            <a:r>
              <a:t>RWANDA ROAD SAFETY INTELLIGENCE SYSTEM (RRSIS)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240"/>
                </a:solidFill>
              </a:defRPr>
            </a:pPr>
            <a:r>
              <a:t>Rwanda Implementation Framework &amp; Policy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RNP Micro-Data Digitization &amp; Availability Timeline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Current Status: Rwanda National Police logs crash events in digitized station registries.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Data Availability Timeline: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Phase 1 (Q1-Q2): NISR Open Data Portal release of anonymized CSV/Parquet crash micro-data.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• Phase 2 (Q3): Automated HDFS ingestion pipelines connecting RNP servers directly to RRSIS.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Seamless Transition: RRSIS PySpark DataFrame schema directly ingests RNP micro-data without pipeline redesign.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National Policy Alignment (Gerayo Amahoro)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National Policy Recommendations for Rwanda: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1. Automated Speed Enforcement: Deploy ANPR speed cameras along RN1 (Kigali-Huye) and RN3 (Kigali-Musanze).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2. Gerayo Amahoro Campaign: Target night speeding, fatigue, and pedestrian visibility during rain seasons.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  3. Emergency Response Posts: Station ambulances and trauma teams at high-risk corridor blackspots.</a:t>
            </a:r>
          </a:p>
          <a:p>
            <a:pPr>
              <a:spcAft>
                <a:spcPts val="400"/>
              </a:spcAft>
              <a:defRPr sz="1100">
                <a:solidFill>
                  <a:srgbClr val="1E1E1E"/>
                </a:solidFill>
              </a:defRPr>
            </a:pPr>
            <a:r>
              <a:t>• Conclusion: RRSIS provides Rwanda with an enterprise big data analytics framework to save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